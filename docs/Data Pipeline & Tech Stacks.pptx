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peline" id="{3ccb421f-1f71-5276-9e59-8b010776c7b5}">
          <p14:sldIdLst>
            <p14:sldId id="256"/>
          </p14:sldIdLst>
        </p14:section>
        <p14:section name="Tech stack" id="{2e2ab65f-1d47-8da7-bd26-d4d41a09c2ef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Stress Verify: two independent agents and an extra reviewer check the result before the user sees it. Ambiguous questions trigger clarification; missing inputs give next steps, never a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planner is deterministic by default (no model credentials needed). Docker is required for execution; there is no unsandboxed production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Data Pipeline: Data to Verified Answer</a:t>
            </a:r>
            <a:endParaRPr lang="en-US" sz="3600" dirty="0"/>
          </a:p>
        </p:txBody>
      </p:sp>
      <p:sp>
        <p:nvSpPr>
          <p:cNvPr id="3" name="Step 1 chevron"/>
          <p:cNvSpPr/>
          <p:nvPr/>
        </p:nvSpPr>
        <p:spPr>
          <a:xfrm>
            <a:off x="548640" y="1554480"/>
            <a:ext cx="1691640" cy="68580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1 name"/>
          <p:cNvSpPr txBox="1"/>
          <p:nvPr/>
        </p:nvSpPr>
        <p:spPr>
          <a:xfrm>
            <a:off x="822960" y="15544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Upload</a:t>
            </a:r>
            <a:endParaRPr lang="en-US" sz="1400" dirty="0"/>
          </a:p>
        </p:txBody>
      </p:sp>
      <p:sp>
        <p:nvSpPr>
          <p:cNvPr id="5" name="Step 1 card"/>
          <p:cNvSpPr/>
          <p:nvPr/>
        </p:nvSpPr>
        <p:spPr>
          <a:xfrm>
            <a:off x="548640" y="2423160"/>
            <a:ext cx="1417320" cy="242316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ep 1 number"/>
          <p:cNvSpPr txBox="1"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tep 1 description"/>
          <p:cNvSpPr txBox="1"/>
          <p:nvPr/>
        </p:nvSpPr>
        <p:spPr>
          <a:xfrm>
            <a:off x="640080" y="3154680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CSV, XLSX or XLS files are added</a:t>
            </a:r>
            <a:endParaRPr lang="en-US" sz="1400" dirty="0"/>
          </a:p>
        </p:txBody>
      </p:sp>
      <p:sp>
        <p:nvSpPr>
          <p:cNvPr id="8" name="Step 2 chevron"/>
          <p:cNvSpPr/>
          <p:nvPr/>
        </p:nvSpPr>
        <p:spPr>
          <a:xfrm>
            <a:off x="2103120" y="1554480"/>
            <a:ext cx="1691640" cy="68580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ep 2 name"/>
          <p:cNvSpPr txBox="1"/>
          <p:nvPr/>
        </p:nvSpPr>
        <p:spPr>
          <a:xfrm>
            <a:off x="2377440" y="15544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Profile</a:t>
            </a:r>
            <a:endParaRPr lang="en-US" sz="1400" dirty="0"/>
          </a:p>
        </p:txBody>
      </p:sp>
      <p:sp>
        <p:nvSpPr>
          <p:cNvPr id="10" name="Step 2 card"/>
          <p:cNvSpPr/>
          <p:nvPr/>
        </p:nvSpPr>
        <p:spPr>
          <a:xfrm>
            <a:off x="2103120" y="2423160"/>
            <a:ext cx="1417320" cy="242316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2194560" y="25603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tep 2 description"/>
          <p:cNvSpPr txBox="1"/>
          <p:nvPr/>
        </p:nvSpPr>
        <p:spPr>
          <a:xfrm>
            <a:off x="2194560" y="3154680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Reads columns, types, missing values, warnings</a:t>
            </a:r>
            <a:endParaRPr lang="en-US" sz="1400" dirty="0"/>
          </a:p>
        </p:txBody>
      </p:sp>
      <p:sp>
        <p:nvSpPr>
          <p:cNvPr id="13" name="Step 3 chevron"/>
          <p:cNvSpPr/>
          <p:nvPr/>
        </p:nvSpPr>
        <p:spPr>
          <a:xfrm>
            <a:off x="3657600" y="1554480"/>
            <a:ext cx="1691640" cy="68580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tep 3 name"/>
          <p:cNvSpPr txBox="1"/>
          <p:nvPr/>
        </p:nvSpPr>
        <p:spPr>
          <a:xfrm>
            <a:off x="3931920" y="15544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Ask</a:t>
            </a:r>
            <a:endParaRPr lang="en-US" sz="1400" dirty="0"/>
          </a:p>
        </p:txBody>
      </p:sp>
      <p:sp>
        <p:nvSpPr>
          <p:cNvPr id="15" name="Step 3 card"/>
          <p:cNvSpPr/>
          <p:nvPr/>
        </p:nvSpPr>
        <p:spPr>
          <a:xfrm>
            <a:off x="3657600" y="2423160"/>
            <a:ext cx="1417320" cy="242316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3 number"/>
          <p:cNvSpPr txBox="1"/>
          <p:nvPr/>
        </p:nvSpPr>
        <p:spPr>
          <a:xfrm>
            <a:off x="3749040" y="25603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tep 3 description"/>
          <p:cNvSpPr txBox="1"/>
          <p:nvPr/>
        </p:nvSpPr>
        <p:spPr>
          <a:xfrm>
            <a:off x="3749040" y="3154680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User asks in everyday language</a:t>
            </a:r>
            <a:endParaRPr lang="en-US" sz="1400" dirty="0"/>
          </a:p>
        </p:txBody>
      </p:sp>
      <p:sp>
        <p:nvSpPr>
          <p:cNvPr id="18" name="Step 4 chevron"/>
          <p:cNvSpPr/>
          <p:nvPr/>
        </p:nvSpPr>
        <p:spPr>
          <a:xfrm>
            <a:off x="5212080" y="1554480"/>
            <a:ext cx="1691640" cy="68580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tep 4 name"/>
          <p:cNvSpPr txBox="1"/>
          <p:nvPr/>
        </p:nvSpPr>
        <p:spPr>
          <a:xfrm>
            <a:off x="5486400" y="15544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Plan</a:t>
            </a:r>
            <a:endParaRPr lang="en-US" sz="1400" dirty="0"/>
          </a:p>
        </p:txBody>
      </p:sp>
      <p:sp>
        <p:nvSpPr>
          <p:cNvPr id="20" name="Step 4 card"/>
          <p:cNvSpPr/>
          <p:nvPr/>
        </p:nvSpPr>
        <p:spPr>
          <a:xfrm>
            <a:off x="5212080" y="2423160"/>
            <a:ext cx="1417320" cy="242316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tep 4 number"/>
          <p:cNvSpPr txBox="1"/>
          <p:nvPr/>
        </p:nvSpPr>
        <p:spPr>
          <a:xfrm>
            <a:off x="5303520" y="25603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tep 4 description"/>
          <p:cNvSpPr txBox="1"/>
          <p:nvPr/>
        </p:nvSpPr>
        <p:spPr>
          <a:xfrm>
            <a:off x="5303520" y="3154680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Question maps to supported fields and calculations</a:t>
            </a:r>
            <a:endParaRPr lang="en-US" sz="1400" dirty="0"/>
          </a:p>
        </p:txBody>
      </p:sp>
      <p:sp>
        <p:nvSpPr>
          <p:cNvPr id="23" name="Step 5 chevron"/>
          <p:cNvSpPr/>
          <p:nvPr/>
        </p:nvSpPr>
        <p:spPr>
          <a:xfrm>
            <a:off x="6766560" y="1554480"/>
            <a:ext cx="1691640" cy="68580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Step 5 name"/>
          <p:cNvSpPr txBox="1"/>
          <p:nvPr/>
        </p:nvSpPr>
        <p:spPr>
          <a:xfrm>
            <a:off x="7040880" y="15544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Execute</a:t>
            </a:r>
            <a:endParaRPr lang="en-US" sz="1400" dirty="0"/>
          </a:p>
        </p:txBody>
      </p:sp>
      <p:sp>
        <p:nvSpPr>
          <p:cNvPr id="25" name="Step 5 card"/>
          <p:cNvSpPr/>
          <p:nvPr/>
        </p:nvSpPr>
        <p:spPr>
          <a:xfrm>
            <a:off x="6766560" y="2423160"/>
            <a:ext cx="1417320" cy="242316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tep 5 number"/>
          <p:cNvSpPr txBox="1"/>
          <p:nvPr/>
        </p:nvSpPr>
        <p:spPr>
          <a:xfrm>
            <a:off x="6858000" y="25603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Step 5 description"/>
          <p:cNvSpPr txBox="1"/>
          <p:nvPr/>
        </p:nvSpPr>
        <p:spPr>
          <a:xfrm>
            <a:off x="6858000" y="3154680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DuckDB runs it in an isolated Docker sandbox</a:t>
            </a:r>
            <a:endParaRPr lang="en-US" sz="1400" dirty="0"/>
          </a:p>
        </p:txBody>
      </p:sp>
      <p:sp>
        <p:nvSpPr>
          <p:cNvPr id="28" name="Step 6 chevron"/>
          <p:cNvSpPr/>
          <p:nvPr/>
        </p:nvSpPr>
        <p:spPr>
          <a:xfrm>
            <a:off x="8321040" y="1554480"/>
            <a:ext cx="1691640" cy="68580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Step 6 name"/>
          <p:cNvSpPr txBox="1"/>
          <p:nvPr/>
        </p:nvSpPr>
        <p:spPr>
          <a:xfrm>
            <a:off x="8595360" y="15544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Verify</a:t>
            </a:r>
            <a:endParaRPr lang="en-US" sz="1400" dirty="0"/>
          </a:p>
        </p:txBody>
      </p:sp>
      <p:sp>
        <p:nvSpPr>
          <p:cNvPr id="30" name="Step 6 card"/>
          <p:cNvSpPr/>
          <p:nvPr/>
        </p:nvSpPr>
        <p:spPr>
          <a:xfrm>
            <a:off x="8321040" y="2423160"/>
            <a:ext cx="1417320" cy="242316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Step 6 number"/>
          <p:cNvSpPr txBox="1"/>
          <p:nvPr/>
        </p:nvSpPr>
        <p:spPr>
          <a:xfrm>
            <a:off x="8412480" y="25603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Step 6 description"/>
          <p:cNvSpPr txBox="1"/>
          <p:nvPr/>
        </p:nvSpPr>
        <p:spPr>
          <a:xfrm>
            <a:off x="8412480" y="3154680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Agent 1, Agent 2 and a reviewer check it</a:t>
            </a:r>
            <a:endParaRPr lang="en-US" sz="1400" dirty="0"/>
          </a:p>
        </p:txBody>
      </p:sp>
      <p:sp>
        <p:nvSpPr>
          <p:cNvPr id="33" name="Step 7 chevron"/>
          <p:cNvSpPr/>
          <p:nvPr/>
        </p:nvSpPr>
        <p:spPr>
          <a:xfrm>
            <a:off x="9875520" y="1554480"/>
            <a:ext cx="1691640" cy="68580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Step 7 name"/>
          <p:cNvSpPr txBox="1"/>
          <p:nvPr/>
        </p:nvSpPr>
        <p:spPr>
          <a:xfrm>
            <a:off x="10149840" y="15544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Output</a:t>
            </a:r>
            <a:endParaRPr lang="en-US" sz="1400" dirty="0"/>
          </a:p>
        </p:txBody>
      </p:sp>
      <p:sp>
        <p:nvSpPr>
          <p:cNvPr id="35" name="Step 7 card"/>
          <p:cNvSpPr/>
          <p:nvPr/>
        </p:nvSpPr>
        <p:spPr>
          <a:xfrm>
            <a:off x="9875520" y="2423160"/>
            <a:ext cx="1417320" cy="242316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Step 7 number"/>
          <p:cNvSpPr txBox="1"/>
          <p:nvPr/>
        </p:nvSpPr>
        <p:spPr>
          <a:xfrm>
            <a:off x="9966960" y="25603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Step 7 description"/>
          <p:cNvSpPr txBox="1"/>
          <p:nvPr/>
        </p:nvSpPr>
        <p:spPr>
          <a:xfrm>
            <a:off x="9966960" y="3154680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Answer, evidence, confidence score, AuditCode</a:t>
            </a:r>
            <a:endParaRPr lang="en-US" sz="1400" dirty="0"/>
          </a:p>
        </p:txBody>
      </p:sp>
      <p:sp>
        <p:nvSpPr>
          <p:cNvPr id="38" name="Key point band"/>
          <p:cNvSpPr/>
          <p:nvPr/>
        </p:nvSpPr>
        <p:spPr>
          <a:xfrm>
            <a:off x="548640" y="525780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Band label"/>
          <p:cNvSpPr txBox="1"/>
          <p:nvPr/>
        </p:nvSpPr>
        <p:spPr>
          <a:xfrm>
            <a:off x="822960" y="5349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IN SIMPLE TERMS</a:t>
            </a:r>
            <a:endParaRPr lang="en-US" sz="1400" dirty="0"/>
          </a:p>
        </p:txBody>
      </p:sp>
      <p:sp>
        <p:nvSpPr>
          <p:cNvPr id="40" name="Band text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bg1"/>
                </a:solidFill>
              </a:rPr>
              <a:t>SureCount does not just give an answer: it checks how the answer was produced and shows the evidence.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Tech Stack</a:t>
            </a:r>
            <a:endParaRPr lang="en-US" sz="3600" dirty="0"/>
          </a:p>
        </p:txBody>
      </p:sp>
      <p:sp>
        <p:nvSpPr>
          <p:cNvPr id="3" name="Frontend card"/>
          <p:cNvSpPr/>
          <p:nvPr/>
        </p:nvSpPr>
        <p:spPr>
          <a:xfrm>
            <a:off x="548640" y="1463040"/>
            <a:ext cx="35661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rontend title"/>
          <p:cNvSpPr txBox="1"/>
          <p:nvPr/>
        </p:nvSpPr>
        <p:spPr>
          <a:xfrm>
            <a:off x="77724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Frontend</a:t>
            </a:r>
            <a:endParaRPr lang="en-US" sz="1800" dirty="0"/>
          </a:p>
        </p:txBody>
      </p:sp>
      <p:sp>
        <p:nvSpPr>
          <p:cNvPr id="5" name="Frontend list"/>
          <p:cNvSpPr txBox="1"/>
          <p:nvPr/>
        </p:nvSpPr>
        <p:spPr>
          <a:xfrm>
            <a:off x="777240" y="20574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Single-page website (HTML/JS, no build step)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Streamlit interface</a:t>
            </a:r>
            <a:endParaRPr lang="en-US" sz="1400" dirty="0"/>
          </a:p>
        </p:txBody>
      </p:sp>
      <p:sp>
        <p:nvSpPr>
          <p:cNvPr id="6" name="API layer card"/>
          <p:cNvSpPr/>
          <p:nvPr/>
        </p:nvSpPr>
        <p:spPr>
          <a:xfrm>
            <a:off x="4297680" y="1463040"/>
            <a:ext cx="35661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API layer title"/>
          <p:cNvSpPr txBox="1"/>
          <p:nvPr/>
        </p:nvSpPr>
        <p:spPr>
          <a:xfrm>
            <a:off x="452628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API layer</a:t>
            </a:r>
            <a:endParaRPr lang="en-US" sz="1800" dirty="0"/>
          </a:p>
        </p:txBody>
      </p:sp>
      <p:sp>
        <p:nvSpPr>
          <p:cNvPr id="8" name="API layer list"/>
          <p:cNvSpPr txBox="1"/>
          <p:nvPr/>
        </p:nvSpPr>
        <p:spPr>
          <a:xfrm>
            <a:off x="4526280" y="20574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FastAPI + Uvicorn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Pydantic, jsonschema, OpenAPI contract</a:t>
            </a:r>
            <a:endParaRPr lang="en-US" sz="1400" dirty="0"/>
          </a:p>
        </p:txBody>
      </p:sp>
      <p:sp>
        <p:nvSpPr>
          <p:cNvPr id="9" name="Data engine card"/>
          <p:cNvSpPr/>
          <p:nvPr/>
        </p:nvSpPr>
        <p:spPr>
          <a:xfrm>
            <a:off x="8046720" y="1463040"/>
            <a:ext cx="35661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ata engine title"/>
          <p:cNvSpPr txBox="1"/>
          <p:nvPr/>
        </p:nvSpPr>
        <p:spPr>
          <a:xfrm>
            <a:off x="827532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Data engine</a:t>
            </a:r>
            <a:endParaRPr lang="en-US" sz="1800" dirty="0"/>
          </a:p>
        </p:txBody>
      </p:sp>
      <p:sp>
        <p:nvSpPr>
          <p:cNvPr id="11" name="Data engine list"/>
          <p:cNvSpPr txBox="1"/>
          <p:nvPr/>
        </p:nvSpPr>
        <p:spPr>
          <a:xfrm>
            <a:off x="8275320" y="20574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DuckDB for calculations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pandas, openpyxl, xlrd (CSV/XLSX/XLS)</a:t>
            </a:r>
            <a:endParaRPr lang="en-US" sz="1400" dirty="0"/>
          </a:p>
        </p:txBody>
      </p:sp>
      <p:sp>
        <p:nvSpPr>
          <p:cNvPr id="12" name="Storage and jobs card"/>
          <p:cNvSpPr/>
          <p:nvPr/>
        </p:nvSpPr>
        <p:spPr>
          <a:xfrm>
            <a:off x="548640" y="3337560"/>
            <a:ext cx="35661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orage and jobs title"/>
          <p:cNvSpPr txBox="1"/>
          <p:nvPr/>
        </p:nvSpPr>
        <p:spPr>
          <a:xfrm>
            <a:off x="77724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Storage and jobs</a:t>
            </a:r>
            <a:endParaRPr lang="en-US" sz="1800" dirty="0"/>
          </a:p>
        </p:txBody>
      </p:sp>
      <p:sp>
        <p:nvSpPr>
          <p:cNvPr id="14" name="Storage and jobs list"/>
          <p:cNvSpPr txBox="1"/>
          <p:nvPr/>
        </p:nvSpPr>
        <p:spPr>
          <a:xfrm>
            <a:off x="777240" y="39319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SQLAlchemy with SQLite or PostgreSQL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Database job queue and worker</a:t>
            </a:r>
            <a:endParaRPr lang="en-US" sz="1400" dirty="0"/>
          </a:p>
        </p:txBody>
      </p:sp>
      <p:sp>
        <p:nvSpPr>
          <p:cNvPr id="15" name="Isolation card"/>
          <p:cNvSpPr/>
          <p:nvPr/>
        </p:nvSpPr>
        <p:spPr>
          <a:xfrm>
            <a:off x="4297680" y="3337560"/>
            <a:ext cx="35661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solation title"/>
          <p:cNvSpPr txBox="1"/>
          <p:nvPr/>
        </p:nvSpPr>
        <p:spPr>
          <a:xfrm>
            <a:off x="452628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Isolation</a:t>
            </a:r>
            <a:endParaRPr lang="en-US" sz="1800" dirty="0"/>
          </a:p>
        </p:txBody>
      </p:sp>
      <p:sp>
        <p:nvSpPr>
          <p:cNvPr id="17" name="Isolation list"/>
          <p:cNvSpPr txBox="1"/>
          <p:nvPr/>
        </p:nvSpPr>
        <p:spPr>
          <a:xfrm>
            <a:off x="4526280" y="39319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Docker sandbox on python:3.12-slim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Runs as non-root user</a:t>
            </a:r>
            <a:endParaRPr lang="en-US" sz="1400" dirty="0"/>
          </a:p>
        </p:txBody>
      </p:sp>
      <p:sp>
        <p:nvSpPr>
          <p:cNvPr id="18" name="Planning and testing card"/>
          <p:cNvSpPr/>
          <p:nvPr/>
        </p:nvSpPr>
        <p:spPr>
          <a:xfrm>
            <a:off x="8046720" y="3337560"/>
            <a:ext cx="356616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lanning and testing title"/>
          <p:cNvSpPr txBox="1"/>
          <p:nvPr/>
        </p:nvSpPr>
        <p:spPr>
          <a:xfrm>
            <a:off x="827532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Planning and testing</a:t>
            </a:r>
            <a:endParaRPr lang="en-US" sz="1800" dirty="0"/>
          </a:p>
        </p:txBody>
      </p:sp>
      <p:sp>
        <p:nvSpPr>
          <p:cNvPr id="20" name="Planning and testing list"/>
          <p:cNvSpPr txBox="1"/>
          <p:nvPr/>
        </p:nvSpPr>
        <p:spPr>
          <a:xfrm>
            <a:off x="8275320" y="39319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Deterministic planner + local intent model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pytest, httpx, GitHub Actions CI</a:t>
            </a:r>
            <a:endParaRPr lang="en-US" sz="1400" dirty="0"/>
          </a:p>
        </p:txBody>
      </p:sp>
      <p:sp>
        <p:nvSpPr>
          <p:cNvPr id="21" name="Key point band"/>
          <p:cNvSpPr/>
          <p:nvPr/>
        </p:nvSpPr>
        <p:spPr>
          <a:xfrm>
            <a:off x="548640" y="525780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Band label"/>
          <p:cNvSpPr txBox="1"/>
          <p:nvPr/>
        </p:nvSpPr>
        <p:spPr>
          <a:xfrm>
            <a:off x="822960" y="5349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IN SHORT</a:t>
            </a:r>
            <a:endParaRPr lang="en-US" sz="1400" dirty="0"/>
          </a:p>
        </p:txBody>
      </p:sp>
      <p:sp>
        <p:nvSpPr>
          <p:cNvPr id="23" name="Band text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bg1"/>
                </a:solidFill>
              </a:rPr>
              <a:t>Python 3.12: FastAPI serves the API, DuckDB runs the calculations, and Docker isolates execution.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of Analyst">
  <a:themeElements>
    <a:clrScheme name="Proof Analyst">
      <a:dk1>
        <a:srgbClr val="13293D"/>
      </a:dk1>
      <a:lt1>
        <a:srgbClr val="FFFFFF"/>
      </a:lt1>
      <a:dk2>
        <a:srgbClr val="1B4965"/>
      </a:dk2>
      <a:lt2>
        <a:srgbClr val="EAF2F7"/>
      </a:lt2>
      <a:accent1>
        <a:srgbClr val="0B7A75"/>
      </a:accent1>
      <a:accent2>
        <a:srgbClr val="F2A541"/>
      </a:accent2>
      <a:accent3>
        <a:srgbClr val="1B4965"/>
      </a:accent3>
      <a:accent4>
        <a:srgbClr val="5FA8D3"/>
      </a:accent4>
      <a:accent5>
        <a:srgbClr val="2E8B57"/>
      </a:accent5>
      <a:accent6>
        <a:srgbClr val="C8553D"/>
      </a:accent6>
      <a:hlink>
        <a:srgbClr val="0B7A75"/>
      </a:hlink>
      <a:folHlink>
        <a:srgbClr val="1B4965"/>
      </a:folHlink>
    </a:clrScheme>
    <a:fontScheme name="Proof Analy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2026-10-07T10:15:59Z</dcterms:created>
  <dcterms:modified xsi:type="dcterms:W3CDTF">2026-10-07T10:15:59Z</dcterms:modified>
</cp:coreProperties>
</file>